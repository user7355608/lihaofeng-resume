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6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0" autoAdjust="0"/>
    <p:restoredTop sz="94660"/>
  </p:normalViewPr>
  <p:slideViewPr>
    <p:cSldViewPr snapToGrid="0">
      <p:cViewPr>
        <p:scale>
          <a:sx n="125" d="100"/>
          <a:sy n="125" d="100"/>
        </p:scale>
        <p:origin x="1506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253B2-FA00-455A-BFE0-F1887D80E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A42C31-BA66-4B05-9B6F-9B3B83903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0536BE-25A1-4CFA-B462-B18EA562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C506-9D55-436E-8ED1-2CC9498D56F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A0ADC-DE2E-4650-8010-32F9B7B39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A292B-2046-42BD-BBC2-A74E28DFD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EDA-72A3-4AF2-BCE2-A53CE0E05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040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3C995-3B13-4656-86CF-58BCA2074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B5566-159F-47EA-A981-C710F2E58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F3E7F7-46A6-4ACC-A71E-F0FC5B349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C506-9D55-436E-8ED1-2CC9498D56F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C9C21F-9C25-4DF1-8548-216BBB9C9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A3BD9A-EC58-4A07-A8B9-D4C7938E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EDA-72A3-4AF2-BCE2-A53CE0E05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83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5428A-7724-47A1-82E9-18A3E10F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48E8EE-9D0C-4A22-879F-1D8BFD83A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789048-3AD5-48CF-9C27-E245D9CB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C506-9D55-436E-8ED1-2CC9498D56F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10F36D-157C-4690-9BEB-DCA7EF76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0E4740-57EC-4446-8A4C-864F50C9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EDA-72A3-4AF2-BCE2-A53CE0E05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947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1BA4E-814E-4C7B-89D3-67A2EF5CF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3B4C17-7BB1-46F0-86EB-0F1B40CD6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911F8C-DD8E-4317-99AB-EDFE6A15A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620190-3290-405C-B95C-AF29927A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C506-9D55-436E-8ED1-2CC9498D56F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775873-8959-41C0-9183-6871343AA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7582B2-9C48-44B6-83FA-B0DA8B0B1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EDA-72A3-4AF2-BCE2-A53CE0E05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796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C5863-99F3-4FF4-9985-805931251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79C583-8542-411C-A7BA-E065D6060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DC38CC-692D-4710-9C7F-41B19F375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AE2B46-CAA6-4649-943F-87CDFFD2B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842C53-9A2B-43BD-BB7C-8D03D33206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D045B8-541A-4611-93C6-CCEB8D198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C506-9D55-436E-8ED1-2CC9498D56F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579072-06F7-4C55-A755-BF933038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F4AD44-F57D-48AC-A6A1-3B3CDE25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EDA-72A3-4AF2-BCE2-A53CE0E05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806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F52FC-970A-4DFC-8B43-07CE478F3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AADEC0-A79D-488D-B083-6585038C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C506-9D55-436E-8ED1-2CC9498D56F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6BCB22-CFD9-485B-B7A1-509B7A582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E485F5-CABA-429C-AD48-D64D6CC7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EDA-72A3-4AF2-BCE2-A53CE0E05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841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A12AD4-1B5B-404D-B000-F49D4F97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C506-9D55-436E-8ED1-2CC9498D56F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F09F21-F18C-4AD4-8D77-D8947AF59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9FFC79-BA6F-474A-89E6-0B8C29709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EDA-72A3-4AF2-BCE2-A53CE0E05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002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63FF2-FD7B-4604-BE0E-2B2DACAFA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25B4A-328D-4C26-9EE8-580F2B2D6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DB64F0-BAB6-42A1-A59F-67C7D56FB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0B60C5-0AF7-4C3C-A67F-42A505754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C506-9D55-436E-8ED1-2CC9498D56F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779F1F-ED8D-4DF1-AB5C-F21E6849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F7F86B-9232-4824-9220-6F2F3AB8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EDA-72A3-4AF2-BCE2-A53CE0E05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321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638D7-B107-42F7-AC95-3AC9D8F22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8E937D-E95D-4240-A5E0-171324665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14E118-9F85-46EF-B565-9F39BA22A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B3F993-AD1B-4E9D-B227-4E2FAC5DE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C506-9D55-436E-8ED1-2CC9498D56F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4D80DC-6CAF-4663-BD2D-417DD715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00D0D2-CC5C-4CC3-91E3-8451B64C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EDA-72A3-4AF2-BCE2-A53CE0E05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342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EE96-2CEA-43FB-8B93-68998C933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D3C294-DC1F-4FA3-94AD-4C56C89E9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35A682-5ABB-418D-9812-0BBF772D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C506-9D55-436E-8ED1-2CC9498D56F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B23866-F127-4D48-880D-6ECF2751A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3B640F-F2E6-4419-9F19-3EDAA92DD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EDA-72A3-4AF2-BCE2-A53CE0E05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94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FEBC2B-B820-4DFE-9776-73109DB8F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70AAFA-58F4-49CC-BBD6-0B2F22283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FBCCD3-A1CE-4699-A85B-754866DC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C506-9D55-436E-8ED1-2CC9498D56F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B1A13C-8AA5-46B6-A804-7D5B9737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FFF09-4CA1-43C1-822F-2ED68B68F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BEDA-72A3-4AF2-BCE2-A53CE0E05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60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4A5A04-CAC4-4985-A723-61BFB4B3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A146F7-A7B5-42E9-90AD-E663308BC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4CB2B-E622-4677-AC9C-22854DB35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AC506-9D55-436E-8ED1-2CC9498D56F1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9EEB6A-2760-4F42-ACD0-B6A9A5313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4FDC2F-B931-4040-8C0A-A9C22A0E8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0BEDA-72A3-4AF2-BCE2-A53CE0E059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29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F3FCE60-AB98-4681-9B61-8EBC24722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932936"/>
              </p:ext>
            </p:extLst>
          </p:nvPr>
        </p:nvGraphicFramePr>
        <p:xfrm>
          <a:off x="3840479" y="4062169"/>
          <a:ext cx="4792980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98245">
                  <a:extLst>
                    <a:ext uri="{9D8B030D-6E8A-4147-A177-3AD203B41FA5}">
                      <a16:colId xmlns:a16="http://schemas.microsoft.com/office/drawing/2014/main" val="3144720385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3215165440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1956428267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3543844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编辑人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编辑时间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更新情况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322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V2</a:t>
                      </a:r>
                      <a:endParaRPr lang="zh-CN" altLang="en-US" sz="11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2025-3-1</a:t>
                      </a:r>
                      <a:endParaRPr lang="zh-CN" altLang="en-US" sz="11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创建文件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58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1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370498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6D9D9B0-EEBA-47C8-BB67-B7304375B7B5}"/>
              </a:ext>
            </a:extLst>
          </p:cNvPr>
          <p:cNvSpPr txBox="1"/>
          <p:nvPr/>
        </p:nvSpPr>
        <p:spPr>
          <a:xfrm>
            <a:off x="3105150" y="1911766"/>
            <a:ext cx="5981700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【QVS110-QC15vc】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总体策略</a:t>
            </a:r>
            <a:endParaRPr lang="en-US" altLang="zh-CN" sz="28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2927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3C8FA6-3F28-4F3D-9636-6CD805389934}"/>
              </a:ext>
            </a:extLst>
          </p:cNvPr>
          <p:cNvSpPr txBox="1"/>
          <p:nvPr/>
        </p:nvSpPr>
        <p:spPr>
          <a:xfrm>
            <a:off x="1532236" y="442425"/>
            <a:ext cx="9001898" cy="531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200" dirty="0"/>
              <a:t>1.</a:t>
            </a:r>
            <a:r>
              <a:rPr lang="zh-CN" altLang="en-US" sz="1200" dirty="0"/>
              <a:t>松耦合框架：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   </a:t>
            </a:r>
            <a:r>
              <a:rPr lang="en-US" altLang="zh-CN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VINS</a:t>
            </a: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从上电开始即一直运行，3m盲区以上一直融合激光测距高度，盲区以下靠纯VINS；模块不断给飞控发送定位数据，飞控判断，有GPS,接入RTK时，用GNSS-rtk定位，同时模块收取飞控定位数据用于校准VINS的位姿，提高精度，有GPS无RTK时用GPS融合</a:t>
            </a:r>
            <a:r>
              <a:rPr lang="en-US" altLang="zh-CN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VINS</a:t>
            </a: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，无GPS时，用纯VINS定位；</a:t>
            </a:r>
            <a:endParaRPr lang="en-US" altLang="zh-CN" sz="1200" dirty="0">
              <a:latin typeface="仿宋_GB2312" panose="02010609030101010101" pitchFamily="49" charset="-122"/>
              <a:ea typeface="仿宋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仿宋_GB2312" panose="02010609030101010101" pitchFamily="49" charset="-122"/>
              <a:ea typeface="仿宋_GB2312" panose="0201060903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/>
              <a:t>模块定位可靠程度判断标准：</a:t>
            </a:r>
            <a:endParaRPr lang="en-US" altLang="zh-CN" sz="1200" dirty="0"/>
          </a:p>
          <a:p>
            <a:pPr indent="265113">
              <a:lnSpc>
                <a:spcPct val="150000"/>
              </a:lnSpc>
            </a:pP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与可靠</a:t>
            </a:r>
            <a:r>
              <a:rPr lang="en-US" altLang="zh-CN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GPS</a:t>
            </a: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是否符合；</a:t>
            </a:r>
            <a:endParaRPr lang="en-US" altLang="zh-CN" sz="1200" dirty="0">
              <a:latin typeface="仿宋_GB2312" panose="02010609030101010101" pitchFamily="49" charset="-122"/>
              <a:ea typeface="仿宋_GB2312" panose="02010609030101010101" pitchFamily="49" charset="-122"/>
            </a:endParaRPr>
          </a:p>
          <a:p>
            <a:pPr indent="265113">
              <a:lnSpc>
                <a:spcPct val="150000"/>
              </a:lnSpc>
            </a:pP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与自身上一帧是否差距过大；</a:t>
            </a:r>
            <a:endParaRPr lang="en-US" altLang="zh-CN" sz="1200" dirty="0">
              <a:latin typeface="仿宋_GB2312" panose="02010609030101010101" pitchFamily="49" charset="-122"/>
              <a:ea typeface="仿宋_GB2312" panose="02010609030101010101" pitchFamily="49" charset="-122"/>
            </a:endParaRPr>
          </a:p>
          <a:p>
            <a:pPr indent="265113">
              <a:lnSpc>
                <a:spcPct val="150000"/>
              </a:lnSpc>
            </a:pP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速度阈值</a:t>
            </a:r>
            <a:r>
              <a:rPr lang="en-US" altLang="zh-CN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-</a:t>
            </a: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飞手设置的航线速度，是否差距过大；</a:t>
            </a:r>
            <a:endParaRPr lang="en-US" altLang="zh-CN" sz="1200" dirty="0">
              <a:latin typeface="仿宋_GB2312" panose="02010609030101010101" pitchFamily="49" charset="-122"/>
              <a:ea typeface="仿宋_GB2312" panose="02010609030101010101" pitchFamily="49" charset="-122"/>
            </a:endParaRPr>
          </a:p>
          <a:p>
            <a:pPr indent="265113">
              <a:lnSpc>
                <a:spcPct val="150000"/>
              </a:lnSpc>
            </a:pP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搜星数是否小于</a:t>
            </a:r>
            <a:r>
              <a:rPr lang="en-US" altLang="zh-CN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17</a:t>
            </a: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；</a:t>
            </a:r>
            <a:endParaRPr lang="en-US" altLang="zh-CN" sz="1200" dirty="0">
              <a:latin typeface="仿宋_GB2312" panose="02010609030101010101" pitchFamily="49" charset="-122"/>
              <a:ea typeface="仿宋_GB2312" panose="02010609030101010101" pitchFamily="49" charset="-122"/>
            </a:endParaRPr>
          </a:p>
          <a:p>
            <a:pPr indent="265113">
              <a:lnSpc>
                <a:spcPct val="150000"/>
              </a:lnSpc>
            </a:pP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激光测距是否在盲区（</a:t>
            </a:r>
            <a:r>
              <a:rPr lang="en-US" altLang="zh-CN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3m</a:t>
            </a: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）中</a:t>
            </a:r>
            <a:r>
              <a:rPr lang="en-US" altLang="zh-CN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;</a:t>
            </a:r>
          </a:p>
          <a:p>
            <a:pPr indent="265113">
              <a:lnSpc>
                <a:spcPct val="150000"/>
              </a:lnSpc>
            </a:pP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各传感器的噪声协方差矩阵是否过大；</a:t>
            </a:r>
            <a:endParaRPr lang="en-US" altLang="zh-CN" sz="1200" dirty="0">
              <a:latin typeface="仿宋_GB2312" panose="02010609030101010101" pitchFamily="49" charset="-122"/>
              <a:ea typeface="仿宋_GB2312" panose="0201060903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200" dirty="0"/>
              <a:t>2.</a:t>
            </a:r>
            <a:r>
              <a:rPr lang="zh-CN" altLang="en-US" sz="1200" dirty="0"/>
              <a:t>模块内</a:t>
            </a:r>
            <a:r>
              <a:rPr lang="zh-CN" altLang="en-US" sz="1100" dirty="0"/>
              <a:t>VINS</a:t>
            </a:r>
            <a:r>
              <a:rPr lang="zh-CN" altLang="en-US" sz="1200" dirty="0"/>
              <a:t>发散处理机制：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   飞控进入异常处理策略，（开放设置两到三种功能，一种智能返航，一种定点定高悬停，一种定点降落，高度来源：飞控气压计和激光测距测高，激光测距盲区3M，因此3m以上融合激光测距和气压计，3m以下只用气压计。定点来源，相机定位发散后仍可发出平面速度信息，用于给飞控实现定点悬停或降落）GPS完全丢失的情况下，VINS发散以后，优先进入异常处理策略中的定点定高悬停，此时自动重启VINS，重启失败，即继续悬停或降落，重启成功，即可恢复定位，按照飞手设置进行返航或继续执行航线。当VINS发散后，融合GNSS从无到有恢复的情况下，采用GNSS进行智能返航，回home点，VINS不再执行重启，当恢复后的GNSS又被干扰失去时，飞机进入定点定高悬停模式，继续重启VINS。 </a:t>
            </a:r>
          </a:p>
        </p:txBody>
      </p:sp>
    </p:spTree>
    <p:extLst>
      <p:ext uri="{BB962C8B-B14F-4D97-AF65-F5344CB8AC3E}">
        <p14:creationId xmlns:p14="http://schemas.microsoft.com/office/powerpoint/2010/main" val="3948053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71B562B-3FF6-4F56-94BF-882F5800AB02}"/>
              </a:ext>
            </a:extLst>
          </p:cNvPr>
          <p:cNvSpPr/>
          <p:nvPr/>
        </p:nvSpPr>
        <p:spPr>
          <a:xfrm>
            <a:off x="4324865" y="1058555"/>
            <a:ext cx="4711182" cy="2295312"/>
          </a:xfrm>
          <a:prstGeom prst="roundRect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8F2435A-69DC-4C88-A373-ACD99CC25CC1}"/>
              </a:ext>
            </a:extLst>
          </p:cNvPr>
          <p:cNvSpPr txBox="1"/>
          <p:nvPr/>
        </p:nvSpPr>
        <p:spPr>
          <a:xfrm>
            <a:off x="4971408" y="1781607"/>
            <a:ext cx="14731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+mn-ea"/>
              </a:rPr>
              <a:t>If  RTK</a:t>
            </a:r>
            <a:r>
              <a:rPr lang="zh-CN" altLang="en-US" sz="800" dirty="0">
                <a:latin typeface="+mn-ea"/>
              </a:rPr>
              <a:t>有信号   输出</a:t>
            </a:r>
            <a:r>
              <a:rPr lang="en-US" altLang="zh-CN" sz="800" dirty="0">
                <a:highlight>
                  <a:srgbClr val="FFFF00"/>
                </a:highlight>
                <a:latin typeface="+mn-ea"/>
              </a:rPr>
              <a:t>GNSS</a:t>
            </a:r>
            <a:endParaRPr lang="zh-CN" altLang="en-US" sz="800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AB49F4E-056E-4FBB-8047-D105C75F115D}"/>
              </a:ext>
            </a:extLst>
          </p:cNvPr>
          <p:cNvSpPr/>
          <p:nvPr/>
        </p:nvSpPr>
        <p:spPr>
          <a:xfrm>
            <a:off x="4617493" y="458096"/>
            <a:ext cx="708660" cy="275048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GNSS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流程图: 决策 6">
            <a:extLst>
              <a:ext uri="{FF2B5EF4-FFF2-40B4-BE49-F238E27FC236}">
                <a16:creationId xmlns:a16="http://schemas.microsoft.com/office/drawing/2014/main" id="{9BFDB2C5-08F3-42CC-88C3-A174518CB001}"/>
              </a:ext>
            </a:extLst>
          </p:cNvPr>
          <p:cNvSpPr/>
          <p:nvPr/>
        </p:nvSpPr>
        <p:spPr>
          <a:xfrm>
            <a:off x="4427856" y="1108000"/>
            <a:ext cx="1077807" cy="398560"/>
          </a:xfrm>
          <a:prstGeom prst="flowChartDecision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RTK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增强</a:t>
            </a:r>
            <a:endParaRPr lang="zh-CN" altLang="en-US" sz="1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67F1113-DFC1-4F39-89EF-FF3B845FFC36}"/>
              </a:ext>
            </a:extLst>
          </p:cNvPr>
          <p:cNvSpPr/>
          <p:nvPr/>
        </p:nvSpPr>
        <p:spPr>
          <a:xfrm>
            <a:off x="8327253" y="1933416"/>
            <a:ext cx="708660" cy="3945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/CAN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057D622-B2C6-4D85-AF7E-9992ABF91FB5}"/>
              </a:ext>
            </a:extLst>
          </p:cNvPr>
          <p:cNvSpPr/>
          <p:nvPr/>
        </p:nvSpPr>
        <p:spPr>
          <a:xfrm>
            <a:off x="5161468" y="4401292"/>
            <a:ext cx="3999230" cy="216703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QVS110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DAEA773-2E44-49E9-B5CB-4E6415C642C9}"/>
              </a:ext>
            </a:extLst>
          </p:cNvPr>
          <p:cNvSpPr/>
          <p:nvPr/>
        </p:nvSpPr>
        <p:spPr>
          <a:xfrm>
            <a:off x="7714469" y="4455795"/>
            <a:ext cx="491437" cy="2904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激光测距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A82B62-BB61-4F37-BD97-4ACB792B63B0}"/>
              </a:ext>
            </a:extLst>
          </p:cNvPr>
          <p:cNvSpPr/>
          <p:nvPr/>
        </p:nvSpPr>
        <p:spPr>
          <a:xfrm>
            <a:off x="6861330" y="4447850"/>
            <a:ext cx="625050" cy="29040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IMU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5C4A877-88E1-4FC8-9F41-2D184B58DC44}"/>
              </a:ext>
            </a:extLst>
          </p:cNvPr>
          <p:cNvSpPr/>
          <p:nvPr/>
        </p:nvSpPr>
        <p:spPr>
          <a:xfrm>
            <a:off x="5347393" y="4455795"/>
            <a:ext cx="1016211" cy="29308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双目视觉</a:t>
            </a:r>
          </a:p>
        </p:txBody>
      </p:sp>
      <p:sp>
        <p:nvSpPr>
          <p:cNvPr id="14" name="流程图: 决策 13">
            <a:extLst>
              <a:ext uri="{FF2B5EF4-FFF2-40B4-BE49-F238E27FC236}">
                <a16:creationId xmlns:a16="http://schemas.microsoft.com/office/drawing/2014/main" id="{123BC266-DD4B-4E5B-8800-174D84AA6DAE}"/>
              </a:ext>
            </a:extLst>
          </p:cNvPr>
          <p:cNvSpPr/>
          <p:nvPr/>
        </p:nvSpPr>
        <p:spPr>
          <a:xfrm>
            <a:off x="6604900" y="5154720"/>
            <a:ext cx="1134535" cy="443372"/>
          </a:xfrm>
          <a:prstGeom prst="flowChartDecision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8BF7E33-899A-4122-B9D7-ADF5647324C9}"/>
              </a:ext>
            </a:extLst>
          </p:cNvPr>
          <p:cNvSpPr/>
          <p:nvPr/>
        </p:nvSpPr>
        <p:spPr>
          <a:xfrm>
            <a:off x="5175425" y="5895595"/>
            <a:ext cx="708660" cy="39624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/CAN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340F0C64-83B1-4EA8-9D8A-C8A6B2266EB6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4796807" y="908159"/>
            <a:ext cx="350033" cy="1"/>
          </a:xfrm>
          <a:prstGeom prst="bentConnector3">
            <a:avLst>
              <a:gd name="adj1" fmla="val 50000"/>
            </a:avLst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流程图: 决策 15">
            <a:extLst>
              <a:ext uri="{FF2B5EF4-FFF2-40B4-BE49-F238E27FC236}">
                <a16:creationId xmlns:a16="http://schemas.microsoft.com/office/drawing/2014/main" id="{F9E0C034-DE34-4DD8-B7CF-7AE6F28F9691}"/>
              </a:ext>
            </a:extLst>
          </p:cNvPr>
          <p:cNvSpPr/>
          <p:nvPr/>
        </p:nvSpPr>
        <p:spPr>
          <a:xfrm>
            <a:off x="5499579" y="2307370"/>
            <a:ext cx="1473200" cy="482600"/>
          </a:xfrm>
          <a:prstGeom prst="flowChartDecision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定位决策</a:t>
            </a: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707C78EE-3D2E-4068-9C33-91DEFB297E6D}"/>
              </a:ext>
            </a:extLst>
          </p:cNvPr>
          <p:cNvCxnSpPr>
            <a:cxnSpLocks/>
            <a:stCxn id="15" idx="1"/>
            <a:endCxn id="16" idx="1"/>
          </p:cNvCxnSpPr>
          <p:nvPr/>
        </p:nvCxnSpPr>
        <p:spPr>
          <a:xfrm rot="10800000" flipH="1">
            <a:off x="5175425" y="2548671"/>
            <a:ext cx="324154" cy="3545045"/>
          </a:xfrm>
          <a:prstGeom prst="bentConnector3">
            <a:avLst>
              <a:gd name="adj1" fmla="val -70522"/>
            </a:avLst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FF15FE3-B53C-4E01-95FA-F26B63FF910D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5836448" y="5376406"/>
            <a:ext cx="768452" cy="19614"/>
          </a:xfrm>
          <a:prstGeom prst="line">
            <a:avLst/>
          </a:prstGeom>
          <a:ln w="9525">
            <a:solidFill>
              <a:schemeClr val="accent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02664D35-6263-4306-BEC8-8CB6FF6A5280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5853899" y="4748881"/>
            <a:ext cx="1600" cy="647138"/>
          </a:xfrm>
          <a:prstGeom prst="straightConnector1">
            <a:avLst/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194013AC-DF66-4302-9987-7E7BDFC4AF28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7172168" y="4738258"/>
            <a:ext cx="1687" cy="416462"/>
          </a:xfrm>
          <a:prstGeom prst="straightConnector1">
            <a:avLst/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E9DA7B5D-3527-4A74-84AF-460038C9E6DA}"/>
              </a:ext>
            </a:extLst>
          </p:cNvPr>
          <p:cNvSpPr txBox="1"/>
          <p:nvPr/>
        </p:nvSpPr>
        <p:spPr>
          <a:xfrm>
            <a:off x="7461642" y="3145124"/>
            <a:ext cx="4540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位姿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BAD949AC-8A8F-469D-B469-FC2DCEE6AD8B}"/>
              </a:ext>
            </a:extLst>
          </p:cNvPr>
          <p:cNvSpPr txBox="1"/>
          <p:nvPr/>
        </p:nvSpPr>
        <p:spPr>
          <a:xfrm>
            <a:off x="7129160" y="5585119"/>
            <a:ext cx="107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抗干扰位姿</a:t>
            </a:r>
          </a:p>
        </p:txBody>
      </p:sp>
      <p:cxnSp>
        <p:nvCxnSpPr>
          <p:cNvPr id="130" name="连接符: 肘形 129">
            <a:extLst>
              <a:ext uri="{FF2B5EF4-FFF2-40B4-BE49-F238E27FC236}">
                <a16:creationId xmlns:a16="http://schemas.microsoft.com/office/drawing/2014/main" id="{54DA489D-74A2-473C-A0CB-131F22C8E721}"/>
              </a:ext>
            </a:extLst>
          </p:cNvPr>
          <p:cNvCxnSpPr>
            <a:cxnSpLocks/>
            <a:stCxn id="14" idx="2"/>
            <a:endCxn id="6" idx="0"/>
          </p:cNvCxnSpPr>
          <p:nvPr/>
        </p:nvCxnSpPr>
        <p:spPr>
          <a:xfrm rot="5400000">
            <a:off x="6975355" y="5794905"/>
            <a:ext cx="393627" cy="1"/>
          </a:xfrm>
          <a:prstGeom prst="bentConnector3">
            <a:avLst>
              <a:gd name="adj1" fmla="val 50000"/>
            </a:avLst>
          </a:prstGeom>
          <a:ln w="9525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182DEA31-CE79-4A2F-85A4-0E4963E6EE44}"/>
              </a:ext>
            </a:extLst>
          </p:cNvPr>
          <p:cNvSpPr txBox="1"/>
          <p:nvPr/>
        </p:nvSpPr>
        <p:spPr>
          <a:xfrm>
            <a:off x="9072336" y="5330826"/>
            <a:ext cx="7538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GNSS</a:t>
            </a:r>
          </a:p>
          <a:p>
            <a:r>
              <a:rPr lang="zh-CN" altLang="en-US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位姿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7A25C03-463E-4C56-BDC4-0BF774C88D96}"/>
              </a:ext>
            </a:extLst>
          </p:cNvPr>
          <p:cNvSpPr txBox="1"/>
          <p:nvPr/>
        </p:nvSpPr>
        <p:spPr>
          <a:xfrm>
            <a:off x="4951524" y="2563513"/>
            <a:ext cx="74925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抗干扰</a:t>
            </a:r>
            <a:endParaRPr lang="en-US" altLang="zh-CN" sz="10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位姿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916353-3D8E-47F4-ACC0-93CA93EFF8D9}"/>
              </a:ext>
            </a:extLst>
          </p:cNvPr>
          <p:cNvSpPr/>
          <p:nvPr/>
        </p:nvSpPr>
        <p:spPr>
          <a:xfrm>
            <a:off x="6264343" y="3574044"/>
            <a:ext cx="2452554" cy="416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微克飞控</a:t>
            </a: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19B3C927-3E52-4B53-9BC9-85AEB7E6BD4E}"/>
              </a:ext>
            </a:extLst>
          </p:cNvPr>
          <p:cNvCxnSpPr>
            <a:cxnSpLocks/>
          </p:cNvCxnSpPr>
          <p:nvPr/>
        </p:nvCxnSpPr>
        <p:spPr>
          <a:xfrm>
            <a:off x="4966760" y="1506561"/>
            <a:ext cx="1273636" cy="468289"/>
          </a:xfrm>
          <a:prstGeom prst="bentConnector3">
            <a:avLst>
              <a:gd name="adj1" fmla="val 18"/>
            </a:avLst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F86B64C0-3475-4BFF-8F68-7AAA8525947D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5474846" y="998473"/>
            <a:ext cx="257465" cy="1273637"/>
          </a:xfrm>
          <a:prstGeom prst="bentConnector2">
            <a:avLst/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A01E8663-D536-44A4-9814-770BB4284FED}"/>
              </a:ext>
            </a:extLst>
          </p:cNvPr>
          <p:cNvSpPr txBox="1"/>
          <p:nvPr/>
        </p:nvSpPr>
        <p:spPr>
          <a:xfrm>
            <a:off x="4966759" y="1553799"/>
            <a:ext cx="13125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+mn-ea"/>
              </a:rPr>
              <a:t>If  RTK</a:t>
            </a:r>
            <a:r>
              <a:rPr lang="zh-CN" altLang="en-US" sz="800" dirty="0">
                <a:latin typeface="+mn-ea"/>
              </a:rPr>
              <a:t>有信号   输出</a:t>
            </a:r>
            <a:r>
              <a:rPr lang="en-US" altLang="zh-CN" sz="800" dirty="0">
                <a:highlight>
                  <a:srgbClr val="00FFFF"/>
                </a:highlight>
                <a:latin typeface="+mn-ea"/>
              </a:rPr>
              <a:t>RTK</a:t>
            </a:r>
            <a:r>
              <a:rPr lang="zh-CN" altLang="en-US" sz="800" dirty="0">
                <a:latin typeface="+mn-ea"/>
              </a:rPr>
              <a:t>   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C0AB4DB-D889-42D3-9B0D-A9A22726D0CA}"/>
              </a:ext>
            </a:extLst>
          </p:cNvPr>
          <p:cNvCxnSpPr>
            <a:cxnSpLocks/>
          </p:cNvCxnSpPr>
          <p:nvPr/>
        </p:nvCxnSpPr>
        <p:spPr>
          <a:xfrm>
            <a:off x="6233004" y="1764024"/>
            <a:ext cx="1" cy="543346"/>
          </a:xfrm>
          <a:prstGeom prst="straightConnector1">
            <a:avLst/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DBB420F0-712C-431D-9CCB-E18415D38094}"/>
              </a:ext>
            </a:extLst>
          </p:cNvPr>
          <p:cNvCxnSpPr>
            <a:cxnSpLocks/>
          </p:cNvCxnSpPr>
          <p:nvPr/>
        </p:nvCxnSpPr>
        <p:spPr>
          <a:xfrm>
            <a:off x="7497234" y="3020459"/>
            <a:ext cx="1" cy="543346"/>
          </a:xfrm>
          <a:prstGeom prst="straightConnector1">
            <a:avLst/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A196EF72-4B39-40BB-8827-1EE1F094EEFD}"/>
              </a:ext>
            </a:extLst>
          </p:cNvPr>
          <p:cNvCxnSpPr>
            <a:cxnSpLocks/>
          </p:cNvCxnSpPr>
          <p:nvPr/>
        </p:nvCxnSpPr>
        <p:spPr>
          <a:xfrm>
            <a:off x="6240396" y="2782348"/>
            <a:ext cx="1273636" cy="468289"/>
          </a:xfrm>
          <a:prstGeom prst="bentConnector3">
            <a:avLst>
              <a:gd name="adj1" fmla="val 18"/>
            </a:avLst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7D52135D-9D28-4AA8-8127-CE44ACB481F6}"/>
              </a:ext>
            </a:extLst>
          </p:cNvPr>
          <p:cNvCxnSpPr>
            <a:cxnSpLocks/>
            <a:stCxn id="16" idx="2"/>
          </p:cNvCxnSpPr>
          <p:nvPr/>
        </p:nvCxnSpPr>
        <p:spPr>
          <a:xfrm rot="16200000" flipH="1">
            <a:off x="6717215" y="2308933"/>
            <a:ext cx="298984" cy="1261057"/>
          </a:xfrm>
          <a:prstGeom prst="bentConnector2">
            <a:avLst/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16C3F5E2-38F5-445B-907F-49F06577B5B7}"/>
              </a:ext>
            </a:extLst>
          </p:cNvPr>
          <p:cNvSpPr txBox="1"/>
          <p:nvPr/>
        </p:nvSpPr>
        <p:spPr>
          <a:xfrm>
            <a:off x="6182449" y="2876189"/>
            <a:ext cx="147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+mn-ea"/>
              </a:rPr>
              <a:t>If  </a:t>
            </a:r>
            <a:r>
              <a:rPr lang="zh-CN" altLang="en-US" sz="800" dirty="0">
                <a:latin typeface="+mn-ea"/>
              </a:rPr>
              <a:t>无</a:t>
            </a:r>
            <a:r>
              <a:rPr lang="en-US" altLang="zh-CN" sz="800" dirty="0">
                <a:latin typeface="+mn-ea"/>
              </a:rPr>
              <a:t>GNSS</a:t>
            </a:r>
            <a:r>
              <a:rPr lang="zh-CN" altLang="en-US" sz="800" dirty="0">
                <a:latin typeface="+mn-ea"/>
              </a:rPr>
              <a:t>  输出</a:t>
            </a:r>
            <a:r>
              <a:rPr lang="zh-CN" altLang="en-US" sz="800" dirty="0">
                <a:highlight>
                  <a:srgbClr val="FF0000"/>
                </a:highlight>
                <a:latin typeface="+mn-ea"/>
              </a:rPr>
              <a:t>抗干扰定位   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8E29A96-F790-431C-84D5-961FF00A722B}"/>
              </a:ext>
            </a:extLst>
          </p:cNvPr>
          <p:cNvSpPr txBox="1"/>
          <p:nvPr/>
        </p:nvSpPr>
        <p:spPr>
          <a:xfrm>
            <a:off x="6182448" y="3047970"/>
            <a:ext cx="1408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+mn-ea"/>
              </a:rPr>
              <a:t>If  </a:t>
            </a:r>
            <a:r>
              <a:rPr lang="zh-CN" altLang="en-US" sz="800" dirty="0">
                <a:latin typeface="+mn-ea"/>
              </a:rPr>
              <a:t>有</a:t>
            </a:r>
            <a:r>
              <a:rPr lang="en-US" altLang="zh-CN" sz="800" dirty="0">
                <a:latin typeface="+mn-ea"/>
              </a:rPr>
              <a:t>GNSS</a:t>
            </a:r>
            <a:r>
              <a:rPr lang="zh-CN" altLang="en-US" sz="800" dirty="0">
                <a:latin typeface="+mn-ea"/>
              </a:rPr>
              <a:t>  输出</a:t>
            </a:r>
            <a:r>
              <a:rPr lang="en-US" altLang="zh-CN" sz="800" dirty="0">
                <a:highlight>
                  <a:srgbClr val="00FFFF"/>
                </a:highlight>
                <a:latin typeface="+mn-ea"/>
              </a:rPr>
              <a:t>RTK</a:t>
            </a:r>
            <a:r>
              <a:rPr lang="en-US" altLang="zh-CN" sz="800" dirty="0">
                <a:latin typeface="+mn-ea"/>
              </a:rPr>
              <a:t>/</a:t>
            </a:r>
            <a:r>
              <a:rPr lang="en-US" altLang="zh-CN" sz="800" dirty="0">
                <a:highlight>
                  <a:srgbClr val="FFFF00"/>
                </a:highlight>
                <a:latin typeface="+mn-ea"/>
              </a:rPr>
              <a:t>GNSS</a:t>
            </a:r>
            <a:endParaRPr lang="zh-CN" altLang="en-US" sz="800" dirty="0">
              <a:highlight>
                <a:srgbClr val="FFFF00"/>
              </a:highlight>
              <a:latin typeface="+mn-ea"/>
            </a:endParaRP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8D7F9040-A896-47ED-BC84-D6A3FB9E24BE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233004" y="2130689"/>
            <a:ext cx="2094249" cy="0"/>
          </a:xfrm>
          <a:prstGeom prst="straightConnector1">
            <a:avLst/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841EFFB0-2215-4E60-A882-AFA62D071577}"/>
              </a:ext>
            </a:extLst>
          </p:cNvPr>
          <p:cNvCxnSpPr>
            <a:stCxn id="8" idx="3"/>
            <a:endCxn id="14" idx="3"/>
          </p:cNvCxnSpPr>
          <p:nvPr/>
        </p:nvCxnSpPr>
        <p:spPr>
          <a:xfrm flipH="1">
            <a:off x="7739435" y="2130689"/>
            <a:ext cx="1296478" cy="3245717"/>
          </a:xfrm>
          <a:prstGeom prst="bentConnector3">
            <a:avLst>
              <a:gd name="adj1" fmla="val -29877"/>
            </a:avLst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05E4F8CA-AD28-4A17-8CE7-197AEB56DA20}"/>
              </a:ext>
            </a:extLst>
          </p:cNvPr>
          <p:cNvSpPr txBox="1"/>
          <p:nvPr/>
        </p:nvSpPr>
        <p:spPr>
          <a:xfrm>
            <a:off x="630980" y="3272913"/>
            <a:ext cx="2340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【QVS110】</a:t>
            </a:r>
          </a:p>
          <a:p>
            <a:r>
              <a:rPr lang="zh-CN" altLang="en-US" dirty="0"/>
              <a:t>位姿产生及决策逻辑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63D2A20-5E79-4DC2-B918-FADBC87ECDE9}"/>
              </a:ext>
            </a:extLst>
          </p:cNvPr>
          <p:cNvSpPr/>
          <p:nvPr/>
        </p:nvSpPr>
        <p:spPr>
          <a:xfrm>
            <a:off x="3369733" y="177800"/>
            <a:ext cx="6553200" cy="6595533"/>
          </a:xfrm>
          <a:prstGeom prst="rect">
            <a:avLst/>
          </a:prstGeom>
          <a:noFill/>
          <a:ln w="28575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B515F4B-4557-4A8A-9975-3E2EB387F11E}"/>
              </a:ext>
            </a:extLst>
          </p:cNvPr>
          <p:cNvSpPr txBox="1"/>
          <p:nvPr/>
        </p:nvSpPr>
        <p:spPr>
          <a:xfrm>
            <a:off x="9020703" y="1812966"/>
            <a:ext cx="631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+mn-ea"/>
              </a:rPr>
              <a:t>含气压计高度信号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D703CF4-7B08-40B0-B631-CFD604B925DB}"/>
              </a:ext>
            </a:extLst>
          </p:cNvPr>
          <p:cNvSpPr/>
          <p:nvPr/>
        </p:nvSpPr>
        <p:spPr>
          <a:xfrm>
            <a:off x="6441255" y="4570117"/>
            <a:ext cx="47203" cy="472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C0BD969C-C58D-48E3-ABEE-E9FD864BA755}"/>
              </a:ext>
            </a:extLst>
          </p:cNvPr>
          <p:cNvSpPr/>
          <p:nvPr/>
        </p:nvSpPr>
        <p:spPr>
          <a:xfrm>
            <a:off x="6586128" y="4570117"/>
            <a:ext cx="47203" cy="472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A3AEF0DB-A33F-44A6-B756-9394FDBABB5E}"/>
              </a:ext>
            </a:extLst>
          </p:cNvPr>
          <p:cNvSpPr/>
          <p:nvPr/>
        </p:nvSpPr>
        <p:spPr>
          <a:xfrm>
            <a:off x="6731000" y="4570117"/>
            <a:ext cx="47203" cy="472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流程图: 决策 51">
            <a:extLst>
              <a:ext uri="{FF2B5EF4-FFF2-40B4-BE49-F238E27FC236}">
                <a16:creationId xmlns:a16="http://schemas.microsoft.com/office/drawing/2014/main" id="{65765142-AFB2-4F28-B72A-9997D38B277B}"/>
              </a:ext>
            </a:extLst>
          </p:cNvPr>
          <p:cNvSpPr/>
          <p:nvPr/>
        </p:nvSpPr>
        <p:spPr>
          <a:xfrm>
            <a:off x="8121883" y="4824973"/>
            <a:ext cx="799166" cy="228967"/>
          </a:xfrm>
          <a:prstGeom prst="flowChartDecision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AF4CC5F-C7A1-451E-BD93-2D4CC737581A}"/>
              </a:ext>
            </a:extLst>
          </p:cNvPr>
          <p:cNvSpPr txBox="1"/>
          <p:nvPr/>
        </p:nvSpPr>
        <p:spPr>
          <a:xfrm>
            <a:off x="8244773" y="4793099"/>
            <a:ext cx="638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+mn-ea"/>
              </a:rPr>
              <a:t>高度信号</a:t>
            </a:r>
            <a:endParaRPr lang="en-US" altLang="zh-CN" sz="800" dirty="0">
              <a:latin typeface="+mn-ea"/>
            </a:endParaRPr>
          </a:p>
          <a:p>
            <a:pPr algn="ctr"/>
            <a:r>
              <a:rPr lang="zh-CN" altLang="en-US" sz="800" dirty="0">
                <a:latin typeface="+mn-ea"/>
              </a:rPr>
              <a:t>选择</a:t>
            </a:r>
            <a:endParaRPr lang="zh-CN" altLang="en-US" sz="800" dirty="0">
              <a:highlight>
                <a:srgbClr val="FF0000"/>
              </a:highlight>
              <a:latin typeface="+mn-ea"/>
            </a:endParaRP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16D26B00-E1DE-4EEE-861F-C6C27D4016C3}"/>
              </a:ext>
            </a:extLst>
          </p:cNvPr>
          <p:cNvCxnSpPr>
            <a:cxnSpLocks/>
            <a:stCxn id="10" idx="2"/>
            <a:endCxn id="52" idx="1"/>
          </p:cNvCxnSpPr>
          <p:nvPr/>
        </p:nvCxnSpPr>
        <p:spPr>
          <a:xfrm rot="16200000" flipH="1">
            <a:off x="7944408" y="4761982"/>
            <a:ext cx="193254" cy="161695"/>
          </a:xfrm>
          <a:prstGeom prst="bentConnector2">
            <a:avLst/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95CCAC2B-F678-434A-86E0-5CFEDD134F8A}"/>
              </a:ext>
            </a:extLst>
          </p:cNvPr>
          <p:cNvCxnSpPr>
            <a:cxnSpLocks/>
          </p:cNvCxnSpPr>
          <p:nvPr/>
        </p:nvCxnSpPr>
        <p:spPr>
          <a:xfrm rot="10800000">
            <a:off x="8910102" y="4938200"/>
            <a:ext cx="520305" cy="2"/>
          </a:xfrm>
          <a:prstGeom prst="bentConnector3">
            <a:avLst>
              <a:gd name="adj1" fmla="val 50000"/>
            </a:avLst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1FBC02C4-164F-4821-BD4A-D87983FD7305}"/>
              </a:ext>
            </a:extLst>
          </p:cNvPr>
          <p:cNvSpPr txBox="1"/>
          <p:nvPr/>
        </p:nvSpPr>
        <p:spPr>
          <a:xfrm>
            <a:off x="8804760" y="4706481"/>
            <a:ext cx="7118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+mn-ea"/>
              </a:rPr>
              <a:t>气压计信号</a:t>
            </a:r>
            <a:endParaRPr lang="zh-CN" altLang="en-US" sz="800" dirty="0">
              <a:highlight>
                <a:srgbClr val="FF0000"/>
              </a:highlight>
              <a:latin typeface="+mn-ea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EA511EC-8C93-4632-A2AD-67ACE9CBE440}"/>
              </a:ext>
            </a:extLst>
          </p:cNvPr>
          <p:cNvCxnSpPr>
            <a:cxnSpLocks/>
          </p:cNvCxnSpPr>
          <p:nvPr/>
        </p:nvCxnSpPr>
        <p:spPr>
          <a:xfrm flipH="1">
            <a:off x="8530012" y="5094391"/>
            <a:ext cx="1" cy="234886"/>
          </a:xfrm>
          <a:prstGeom prst="straightConnector1">
            <a:avLst/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2D6789E2-6624-47AE-9571-860212570C2A}"/>
              </a:ext>
            </a:extLst>
          </p:cNvPr>
          <p:cNvSpPr/>
          <p:nvPr/>
        </p:nvSpPr>
        <p:spPr>
          <a:xfrm>
            <a:off x="6516793" y="5991719"/>
            <a:ext cx="1310747" cy="19807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异常处理（详见图</a:t>
            </a:r>
            <a:r>
              <a:rPr lang="en-US" altLang="zh-CN" sz="1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9390CBA-DF9A-443F-9BBE-FE75C219732D}"/>
              </a:ext>
            </a:extLst>
          </p:cNvPr>
          <p:cNvCxnSpPr>
            <a:cxnSpLocks/>
            <a:stCxn id="6" idx="1"/>
            <a:endCxn id="15" idx="3"/>
          </p:cNvCxnSpPr>
          <p:nvPr/>
        </p:nvCxnSpPr>
        <p:spPr>
          <a:xfrm flipH="1">
            <a:off x="5884085" y="6090754"/>
            <a:ext cx="632708" cy="2961"/>
          </a:xfrm>
          <a:prstGeom prst="straightConnector1">
            <a:avLst/>
          </a:prstGeom>
          <a:ln w="952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865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C453C1-DCAB-4D1B-B331-88E8F08E25A4}"/>
              </a:ext>
            </a:extLst>
          </p:cNvPr>
          <p:cNvSpPr txBox="1"/>
          <p:nvPr/>
        </p:nvSpPr>
        <p:spPr>
          <a:xfrm>
            <a:off x="410846" y="284180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【QVS110】</a:t>
            </a:r>
          </a:p>
          <a:p>
            <a:r>
              <a:rPr lang="zh-CN" altLang="en-US" dirty="0"/>
              <a:t>视觉定位信号发散处置逻辑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C60A66-5528-4387-B8EF-F297C723F17B}"/>
              </a:ext>
            </a:extLst>
          </p:cNvPr>
          <p:cNvSpPr txBox="1"/>
          <p:nvPr/>
        </p:nvSpPr>
        <p:spPr>
          <a:xfrm>
            <a:off x="5538767" y="866324"/>
            <a:ext cx="1638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视觉里程计</a:t>
            </a:r>
            <a:endParaRPr lang="en-US" altLang="zh-CN" sz="1400" dirty="0"/>
          </a:p>
          <a:p>
            <a:pPr algn="ctr"/>
            <a:r>
              <a:rPr lang="zh-CN" altLang="en-US" sz="1400" dirty="0"/>
              <a:t>发散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5EE4A4-0C27-4EC4-B424-37A5C4F80A26}"/>
              </a:ext>
            </a:extLst>
          </p:cNvPr>
          <p:cNvSpPr txBox="1"/>
          <p:nvPr/>
        </p:nvSpPr>
        <p:spPr>
          <a:xfrm>
            <a:off x="4865309" y="1654381"/>
            <a:ext cx="2995868" cy="15630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zh-CN" altLang="en-US" sz="1400" dirty="0"/>
              <a:t>定点定高悬停</a:t>
            </a:r>
            <a:r>
              <a:rPr lang="en-US" altLang="zh-CN" sz="1400" dirty="0"/>
              <a:t>/</a:t>
            </a:r>
            <a:r>
              <a:rPr lang="zh-CN" altLang="en-US" sz="1400" dirty="0"/>
              <a:t>降落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2D9B5E-7AD2-42A9-A95C-6742202DDCF7}"/>
              </a:ext>
            </a:extLst>
          </p:cNvPr>
          <p:cNvSpPr txBox="1"/>
          <p:nvPr/>
        </p:nvSpPr>
        <p:spPr>
          <a:xfrm>
            <a:off x="4903533" y="2095873"/>
            <a:ext cx="24871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高度源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3m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    飞控气压计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激光测距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3m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以内    飞控气压计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A98C59-0ACF-4DE2-A293-B87AB26C7797}"/>
              </a:ext>
            </a:extLst>
          </p:cNvPr>
          <p:cNvSpPr txBox="1"/>
          <p:nvPr/>
        </p:nvSpPr>
        <p:spPr>
          <a:xfrm>
            <a:off x="4903531" y="2786545"/>
            <a:ext cx="29958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highlight>
                  <a:srgbClr val="00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水平速度信息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相机输出至飞控，实现定点悬停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定点降落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5BB740-F094-44CC-AECB-90757E53BC97}"/>
              </a:ext>
            </a:extLst>
          </p:cNvPr>
          <p:cNvSpPr txBox="1"/>
          <p:nvPr/>
        </p:nvSpPr>
        <p:spPr>
          <a:xfrm>
            <a:off x="7259681" y="4259815"/>
            <a:ext cx="1477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latin typeface="+mn-ea"/>
              </a:defRPr>
            </a:lvl1pPr>
          </a:lstStyle>
          <a:p>
            <a:r>
              <a:rPr lang="zh-CN" altLang="en-US" dirty="0"/>
              <a:t>重启视觉里程计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ADFDA48-BB31-4F9D-B6DC-50D562743099}"/>
              </a:ext>
            </a:extLst>
          </p:cNvPr>
          <p:cNvSpPr txBox="1"/>
          <p:nvPr/>
        </p:nvSpPr>
        <p:spPr>
          <a:xfrm>
            <a:off x="3517899" y="4286825"/>
            <a:ext cx="171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利用</a:t>
            </a:r>
            <a:r>
              <a:rPr lang="en-US" altLang="zh-CN" sz="1400" dirty="0">
                <a:latin typeface="+mn-ea"/>
              </a:rPr>
              <a:t>GNSS</a:t>
            </a:r>
            <a:r>
              <a:rPr lang="zh-CN" altLang="en-US" sz="1400" dirty="0">
                <a:latin typeface="+mn-ea"/>
              </a:rPr>
              <a:t>智能返航   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ABF172-0C9D-44D4-B538-1C27E47AA1D1}"/>
              </a:ext>
            </a:extLst>
          </p:cNvPr>
          <p:cNvSpPr txBox="1"/>
          <p:nvPr/>
        </p:nvSpPr>
        <p:spPr>
          <a:xfrm>
            <a:off x="7500739" y="5702564"/>
            <a:ext cx="1018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latin typeface="+mn-ea"/>
              </a:defRPr>
            </a:lvl1pPr>
          </a:lstStyle>
          <a:p>
            <a:r>
              <a:rPr lang="zh-CN" altLang="en-US" dirty="0"/>
              <a:t>恢复定位</a:t>
            </a:r>
          </a:p>
        </p:txBody>
      </p:sp>
      <p:sp>
        <p:nvSpPr>
          <p:cNvPr id="18" name="流程图: 决策 17">
            <a:extLst>
              <a:ext uri="{FF2B5EF4-FFF2-40B4-BE49-F238E27FC236}">
                <a16:creationId xmlns:a16="http://schemas.microsoft.com/office/drawing/2014/main" id="{1CF3C850-84BB-4896-8AE5-A4F17C504098}"/>
              </a:ext>
            </a:extLst>
          </p:cNvPr>
          <p:cNvSpPr/>
          <p:nvPr/>
        </p:nvSpPr>
        <p:spPr>
          <a:xfrm>
            <a:off x="5237117" y="3553486"/>
            <a:ext cx="2243755" cy="706329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GNSS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</a:p>
        </p:txBody>
      </p: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D847D0CF-8CE1-44F9-9791-DADAADA0AEC5}"/>
              </a:ext>
            </a:extLst>
          </p:cNvPr>
          <p:cNvCxnSpPr>
            <a:cxnSpLocks/>
            <a:stCxn id="18" idx="1"/>
            <a:endCxn id="14" idx="0"/>
          </p:cNvCxnSpPr>
          <p:nvPr/>
        </p:nvCxnSpPr>
        <p:spPr>
          <a:xfrm rot="10800000" flipV="1">
            <a:off x="4374557" y="3906651"/>
            <a:ext cx="862560" cy="3801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158A9080-525C-4A81-8D14-0140BD36652B}"/>
              </a:ext>
            </a:extLst>
          </p:cNvPr>
          <p:cNvSpPr txBox="1"/>
          <p:nvPr/>
        </p:nvSpPr>
        <p:spPr>
          <a:xfrm>
            <a:off x="4548430" y="3570597"/>
            <a:ext cx="617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恢复</a:t>
            </a:r>
          </a:p>
        </p:txBody>
      </p:sp>
      <p:sp>
        <p:nvSpPr>
          <p:cNvPr id="27" name="流程图: 决策 26">
            <a:extLst>
              <a:ext uri="{FF2B5EF4-FFF2-40B4-BE49-F238E27FC236}">
                <a16:creationId xmlns:a16="http://schemas.microsoft.com/office/drawing/2014/main" id="{43912485-A76F-4042-A053-5DC195A4B662}"/>
              </a:ext>
            </a:extLst>
          </p:cNvPr>
          <p:cNvSpPr/>
          <p:nvPr/>
        </p:nvSpPr>
        <p:spPr>
          <a:xfrm>
            <a:off x="3252678" y="4781210"/>
            <a:ext cx="2243755" cy="706329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GNSS</a:t>
            </a: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5A87A5-96A3-43A4-8D83-077F44C3623E}"/>
              </a:ext>
            </a:extLst>
          </p:cNvPr>
          <p:cNvSpPr txBox="1"/>
          <p:nvPr/>
        </p:nvSpPr>
        <p:spPr>
          <a:xfrm>
            <a:off x="3791436" y="5856453"/>
            <a:ext cx="171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回到</a:t>
            </a:r>
            <a:r>
              <a:rPr lang="en-US" altLang="zh-CN" sz="1400" dirty="0">
                <a:latin typeface="+mn-ea"/>
              </a:rPr>
              <a:t>Home</a:t>
            </a:r>
            <a:r>
              <a:rPr lang="zh-CN" altLang="en-US" sz="1400" dirty="0">
                <a:latin typeface="+mn-ea"/>
              </a:rPr>
              <a:t>点</a:t>
            </a: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518F62A8-223E-4C58-8B48-A803CE2A1006}"/>
              </a:ext>
            </a:extLst>
          </p:cNvPr>
          <p:cNvCxnSpPr>
            <a:cxnSpLocks/>
            <a:stCxn id="27" idx="1"/>
            <a:endCxn id="4" idx="1"/>
          </p:cNvCxnSpPr>
          <p:nvPr/>
        </p:nvCxnSpPr>
        <p:spPr>
          <a:xfrm rot="10800000" flipH="1">
            <a:off x="3252677" y="2435907"/>
            <a:ext cx="1612631" cy="2698468"/>
          </a:xfrm>
          <a:prstGeom prst="bentConnector3">
            <a:avLst>
              <a:gd name="adj1" fmla="val -141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CB581AB0-81DE-4374-97B2-8FC3B998FB5A}"/>
              </a:ext>
            </a:extLst>
          </p:cNvPr>
          <p:cNvSpPr txBox="1"/>
          <p:nvPr/>
        </p:nvSpPr>
        <p:spPr>
          <a:xfrm>
            <a:off x="4437952" y="5518107"/>
            <a:ext cx="617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DBA363-B38C-462B-8A24-DB5E067CDBDD}"/>
              </a:ext>
            </a:extLst>
          </p:cNvPr>
          <p:cNvSpPr txBox="1"/>
          <p:nvPr/>
        </p:nvSpPr>
        <p:spPr>
          <a:xfrm>
            <a:off x="2956996" y="5179762"/>
            <a:ext cx="617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无</a:t>
            </a: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5F3F93B3-6772-43AC-8FED-08C8435F3C25}"/>
              </a:ext>
            </a:extLst>
          </p:cNvPr>
          <p:cNvCxnSpPr>
            <a:cxnSpLocks/>
            <a:stCxn id="18" idx="3"/>
            <a:endCxn id="10" idx="0"/>
          </p:cNvCxnSpPr>
          <p:nvPr/>
        </p:nvCxnSpPr>
        <p:spPr>
          <a:xfrm>
            <a:off x="7480872" y="3906651"/>
            <a:ext cx="517768" cy="3531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935B3C1A-E6AF-47D9-9C5F-3B2E62FC64A7}"/>
              </a:ext>
            </a:extLst>
          </p:cNvPr>
          <p:cNvSpPr txBox="1"/>
          <p:nvPr/>
        </p:nvSpPr>
        <p:spPr>
          <a:xfrm>
            <a:off x="7574009" y="3604619"/>
            <a:ext cx="617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无</a:t>
            </a:r>
          </a:p>
        </p:txBody>
      </p:sp>
      <p:sp>
        <p:nvSpPr>
          <p:cNvPr id="40" name="流程图: 决策 39">
            <a:extLst>
              <a:ext uri="{FF2B5EF4-FFF2-40B4-BE49-F238E27FC236}">
                <a16:creationId xmlns:a16="http://schemas.microsoft.com/office/drawing/2014/main" id="{40953A80-C5B4-4695-ABCA-FF04FC3E2606}"/>
              </a:ext>
            </a:extLst>
          </p:cNvPr>
          <p:cNvSpPr/>
          <p:nvPr/>
        </p:nvSpPr>
        <p:spPr>
          <a:xfrm>
            <a:off x="6878998" y="4693580"/>
            <a:ext cx="2243755" cy="706329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重启成功？</a:t>
            </a:r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BB7D5E45-741A-4271-BF32-AD16A3AE2234}"/>
              </a:ext>
            </a:extLst>
          </p:cNvPr>
          <p:cNvCxnSpPr>
            <a:stCxn id="40" idx="3"/>
            <a:endCxn id="4" idx="3"/>
          </p:cNvCxnSpPr>
          <p:nvPr/>
        </p:nvCxnSpPr>
        <p:spPr>
          <a:xfrm flipH="1" flipV="1">
            <a:off x="7861177" y="2435907"/>
            <a:ext cx="1261576" cy="2610838"/>
          </a:xfrm>
          <a:prstGeom prst="bentConnector3">
            <a:avLst>
              <a:gd name="adj1" fmla="val -181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7977A51-2534-460F-A8A7-CAD30721894E}"/>
              </a:ext>
            </a:extLst>
          </p:cNvPr>
          <p:cNvCxnSpPr>
            <a:stCxn id="27" idx="2"/>
          </p:cNvCxnSpPr>
          <p:nvPr/>
        </p:nvCxnSpPr>
        <p:spPr>
          <a:xfrm flipH="1">
            <a:off x="4374555" y="5487539"/>
            <a:ext cx="1" cy="458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0FDEFD3-B52B-4106-BD92-C2C3C591BBF4}"/>
              </a:ext>
            </a:extLst>
          </p:cNvPr>
          <p:cNvCxnSpPr>
            <a:stCxn id="14" idx="2"/>
            <a:endCxn id="27" idx="0"/>
          </p:cNvCxnSpPr>
          <p:nvPr/>
        </p:nvCxnSpPr>
        <p:spPr>
          <a:xfrm flipH="1">
            <a:off x="4374556" y="4594602"/>
            <a:ext cx="1" cy="186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4B32F58-B824-447A-839E-F7886CA4D59C}"/>
              </a:ext>
            </a:extLst>
          </p:cNvPr>
          <p:cNvCxnSpPr>
            <a:stCxn id="10" idx="2"/>
            <a:endCxn id="40" idx="0"/>
          </p:cNvCxnSpPr>
          <p:nvPr/>
        </p:nvCxnSpPr>
        <p:spPr>
          <a:xfrm>
            <a:off x="7998640" y="4567592"/>
            <a:ext cx="2236" cy="125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2B3F5F7-275F-4849-BE7E-C97427526C2B}"/>
              </a:ext>
            </a:extLst>
          </p:cNvPr>
          <p:cNvCxnSpPr>
            <a:cxnSpLocks/>
            <a:stCxn id="40" idx="2"/>
            <a:endCxn id="17" idx="0"/>
          </p:cNvCxnSpPr>
          <p:nvPr/>
        </p:nvCxnSpPr>
        <p:spPr>
          <a:xfrm>
            <a:off x="8000876" y="5399909"/>
            <a:ext cx="9152" cy="302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507050B9-3595-464F-AECE-E992E00E0F13}"/>
              </a:ext>
            </a:extLst>
          </p:cNvPr>
          <p:cNvCxnSpPr>
            <a:stCxn id="4" idx="2"/>
            <a:endCxn id="18" idx="0"/>
          </p:cNvCxnSpPr>
          <p:nvPr/>
        </p:nvCxnSpPr>
        <p:spPr>
          <a:xfrm flipH="1">
            <a:off x="6358995" y="3217432"/>
            <a:ext cx="4248" cy="336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03B83D3-085B-4FEC-AC71-8621D989C36B}"/>
              </a:ext>
            </a:extLst>
          </p:cNvPr>
          <p:cNvCxnSpPr>
            <a:stCxn id="6" idx="2"/>
            <a:endCxn id="4" idx="0"/>
          </p:cNvCxnSpPr>
          <p:nvPr/>
        </p:nvCxnSpPr>
        <p:spPr>
          <a:xfrm>
            <a:off x="6357918" y="1389544"/>
            <a:ext cx="5325" cy="264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D72FC50-142A-43B1-B35C-C6F7178E17D7}"/>
              </a:ext>
            </a:extLst>
          </p:cNvPr>
          <p:cNvSpPr txBox="1"/>
          <p:nvPr/>
        </p:nvSpPr>
        <p:spPr>
          <a:xfrm>
            <a:off x="7998639" y="5364218"/>
            <a:ext cx="617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成功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6A212A1-90BE-4024-ABA3-51D044C317E2}"/>
              </a:ext>
            </a:extLst>
          </p:cNvPr>
          <p:cNvSpPr txBox="1"/>
          <p:nvPr/>
        </p:nvSpPr>
        <p:spPr>
          <a:xfrm>
            <a:off x="8975282" y="4761661"/>
            <a:ext cx="617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失败</a:t>
            </a:r>
          </a:p>
        </p:txBody>
      </p:sp>
    </p:spTree>
    <p:extLst>
      <p:ext uri="{BB962C8B-B14F-4D97-AF65-F5344CB8AC3E}">
        <p14:creationId xmlns:p14="http://schemas.microsoft.com/office/powerpoint/2010/main" val="431399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539</Words>
  <Application>Microsoft Office PowerPoint</Application>
  <PresentationFormat>宽屏</PresentationFormat>
  <Paragraphs>73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仿宋_GB2312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viggie viggie</dc:creator>
  <cp:lastModifiedBy>viggie viggie</cp:lastModifiedBy>
  <cp:revision>12</cp:revision>
  <dcterms:created xsi:type="dcterms:W3CDTF">2025-02-24T01:35:07Z</dcterms:created>
  <dcterms:modified xsi:type="dcterms:W3CDTF">2025-03-01T04:04:22Z</dcterms:modified>
</cp:coreProperties>
</file>